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59" r:id="rId3"/>
    <p:sldId id="262" r:id="rId4"/>
    <p:sldId id="257" r:id="rId5"/>
    <p:sldId id="298" r:id="rId6"/>
    <p:sldId id="303" r:id="rId7"/>
    <p:sldId id="299" r:id="rId8"/>
    <p:sldId id="300" r:id="rId9"/>
    <p:sldId id="304" r:id="rId10"/>
    <p:sldId id="305" r:id="rId11"/>
    <p:sldId id="263" r:id="rId12"/>
    <p:sldId id="265" r:id="rId13"/>
    <p:sldId id="309" r:id="rId14"/>
    <p:sldId id="302" r:id="rId15"/>
    <p:sldId id="306" r:id="rId16"/>
    <p:sldId id="311" r:id="rId17"/>
    <p:sldId id="308" r:id="rId18"/>
    <p:sldId id="312" r:id="rId19"/>
    <p:sldId id="310" r:id="rId20"/>
    <p:sldId id="260" r:id="rId21"/>
    <p:sldId id="313" r:id="rId22"/>
  </p:sldIdLst>
  <p:sldSz cx="9144000" cy="5143500" type="screen16x9"/>
  <p:notesSz cx="6858000" cy="9144000"/>
  <p:embeddedFontLst>
    <p:embeddedFont>
      <p:font typeface="Anaheim" panose="02020500000000000000" charset="0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Microsoft JhengHei Light" panose="020B0304030504040204" pitchFamily="34" charset="-120"/>
      <p:regular r:id="rId27"/>
    </p:embeddedFont>
    <p:embeddedFont>
      <p:font typeface="Mukta Mahee" panose="02020500000000000000" charset="0"/>
      <p:regular r:id="rId28"/>
      <p:bold r:id="rId29"/>
    </p:embeddedFont>
    <p:embeddedFont>
      <p:font typeface="Nunito Light" pitchFamily="2" charset="0"/>
      <p:regular r:id="rId30"/>
      <p:italic r:id="rId31"/>
    </p:embeddedFont>
    <p:embeddedFont>
      <p:font typeface="Orbitron" panose="02020500000000000000" charset="0"/>
      <p:regular r:id="rId32"/>
      <p:bold r:id="rId33"/>
    </p:embeddedFont>
    <p:embeddedFont>
      <p:font typeface="微軟正黑體" panose="020B0604030504040204" pitchFamily="34" charset="-12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00"/>
    <a:srgbClr val="00B0F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AAF232-3A97-4442-9176-7BD929595E78}">
  <a:tblStyle styleId="{DDAAF232-3A97-4442-9176-7BD929595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00242A-195A-4123-8FDE-3D8DABD983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91" autoAdjust="0"/>
  </p:normalViewPr>
  <p:slideViewPr>
    <p:cSldViewPr snapToGrid="0">
      <p:cViewPr varScale="1">
        <p:scale>
          <a:sx n="124" d="100"/>
          <a:sy n="124" d="100"/>
        </p:scale>
        <p:origin x="12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ad%20Wu(FB-TEK)\Downloads\&#27231;&#22120;&#23416;&#32722;_&#26399;&#26411;&#22577;&#21578;_250502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[機器學習_期末報告_250502 (1).xlsx]Churn!樞紐分析表3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Customer Churn vs. Retention Rates</a:t>
            </a:r>
            <a:endParaRPr lang="zh-TW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Churn!$F$2</c:f>
              <c:strCache>
                <c:ptCount val="1"/>
                <c:pt idx="0">
                  <c:v>合計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352-46EC-8561-DD99ACAC53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352-46EC-8561-DD99ACAC5399}"/>
              </c:ext>
            </c:extLst>
          </c:dPt>
          <c:dLbls>
            <c:dLbl>
              <c:idx val="0"/>
              <c:layout>
                <c:manualLayout>
                  <c:x val="0.14322915198191921"/>
                  <c:y val="-5.3724066636878717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52-46EC-8561-DD99ACAC5399}"/>
                </c:ext>
              </c:extLst>
            </c:dLbl>
            <c:dLbl>
              <c:idx val="1"/>
              <c:layout>
                <c:manualLayout>
                  <c:x val="-7.5706837476157376E-2"/>
                  <c:y val="-7.7228345790513159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52-46EC-8561-DD99ACAC53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Churn!$E$3:$E$5</c:f>
              <c:strCache>
                <c:ptCount val="2"/>
                <c:pt idx="0">
                  <c:v>N</c:v>
                </c:pt>
                <c:pt idx="1">
                  <c:v>Y</c:v>
                </c:pt>
              </c:strCache>
            </c:strRef>
          </c:cat>
          <c:val>
            <c:numRef>
              <c:f>Churn!$F$3:$F$5</c:f>
              <c:numCache>
                <c:formatCode>_-* #,##0_-;\-* #,##0_-;_-* "-"??_-;_-@_-</c:formatCode>
                <c:ptCount val="2"/>
                <c:pt idx="0">
                  <c:v>8500</c:v>
                </c:pt>
                <c:pt idx="1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52-46EC-8561-DD99ACAC53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f5352a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f5352a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3A42924-79AD-C82D-D108-85CC7CCF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0087D31-0734-3651-A557-BE2ED8879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7F8F3D8E-26C9-E936-1472-FC6740B6E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44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84F7E8-2C16-EE7D-E78F-16C57FF7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1C7D3582-1F0B-D415-7CC6-EA52A6E85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B23B4BD-D967-2C8A-BF76-0735F33A5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67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E1747D7-F213-9FAE-4A99-D13B19AE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B49E3D63-ABDB-2C1D-E641-862EA6F11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6C02D89-9891-21C0-19CF-F49977322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701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58339DD-E007-16B6-0AC3-71F1FD91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9126683-1E6C-F788-0E9D-3C983E33F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6A2D284-FE93-0D88-421C-147E5A3D4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805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1278CC-4FF6-E9CB-A43E-13EEA23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A75BB282-2DAF-332C-94CB-6DE9BBD03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C66CBB4-3FA5-CBCE-8EF6-642472B0E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8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570DB15-63B8-DFD6-7FF0-F9A1B3C9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88FDDBD6-0265-A8B1-6B10-E1DA9739B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5A1F0C6-B1FF-18E0-3067-B215DBC03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588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D4CE4ECD-DE9A-1A31-083B-228A3223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60075194-DB70-9908-D4F5-E40B775B4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73B188B-CA79-46CE-658E-7AC593DA1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1320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F781854-C8C8-F3C7-B93F-5937761E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2779584F-495E-0EE2-4080-49DF4FFE0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25842D02-D630-CFB0-84E8-16CB8E70D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各模型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inBalance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methods * 5 Model)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+ F1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表現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帶到一下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train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f1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都比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test f1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來的大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CV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跟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Train Test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差不多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=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穩定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?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點出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Overfitting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外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,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還須說明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SMOTE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是否有效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?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後續實驗的模型 應該是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NONE?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8140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91B3E51-6703-BBA3-6E6F-B146535A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56275FA-F3E8-9282-FCB6-9DB049F1D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40F4A39A-DC82-945F-CEFC-3C79F8DF1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5014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6AF7335C-E732-2CAA-B851-08D5A8B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5EBBF1AE-41ED-F279-0E18-CACF37266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FE722E3D-76CD-FF14-F387-EB479BADE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有</a:t>
            </a:r>
            <a:r>
              <a:rPr lang="en-US" altLang="zh-TW" dirty="0"/>
              <a:t>100</a:t>
            </a:r>
            <a:r>
              <a:rPr lang="zh-TW" altLang="en-US" dirty="0"/>
              <a:t>棵樹，每棵樹的樹深不設定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若一個節點有</a:t>
            </a:r>
            <a:r>
              <a:rPr lang="en-US" altLang="zh-TW" b="1" dirty="0"/>
              <a:t>2 </a:t>
            </a:r>
            <a:r>
              <a:rPr lang="zh-TW" altLang="en-US" b="1" dirty="0"/>
              <a:t>筆以上樣本</a:t>
            </a:r>
            <a:r>
              <a:rPr lang="zh-TW" altLang="en-US" dirty="0"/>
              <a:t>就可以分裂，每個葉節點</a:t>
            </a:r>
            <a:r>
              <a:rPr lang="zh-TW" altLang="en-US" b="1" dirty="0"/>
              <a:t>最少保留 </a:t>
            </a:r>
            <a:r>
              <a:rPr lang="en-US" altLang="zh-TW" b="1" dirty="0"/>
              <a:t>1 </a:t>
            </a:r>
            <a:r>
              <a:rPr lang="zh-TW" altLang="en-US" b="1" dirty="0"/>
              <a:t>筆樣本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b="1" dirty="0"/>
              <a:t>預設參數下</a:t>
            </a:r>
            <a:r>
              <a:rPr lang="en-US" altLang="zh-TW" b="1" dirty="0"/>
              <a:t>, </a:t>
            </a:r>
            <a:r>
              <a:rPr lang="zh-TW" altLang="en-US" b="1" dirty="0"/>
              <a:t>平均樹深為</a:t>
            </a:r>
            <a:r>
              <a:rPr lang="en-US" altLang="zh-TW" b="1" dirty="0"/>
              <a:t>22, </a:t>
            </a:r>
            <a:r>
              <a:rPr lang="zh-TW" altLang="en-US" b="1" dirty="0"/>
              <a:t>越深越容易發生過擬合</a:t>
            </a:r>
            <a:br>
              <a:rPr lang="en-US" altLang="zh-TW" b="1" dirty="0"/>
            </a:br>
            <a:r>
              <a:rPr lang="zh-TW" altLang="en-US" b="1" dirty="0"/>
              <a:t>點出超參數實驗範圍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965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C1ED3ECA-4D4B-93FE-FCCC-AFA16BAD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B7484A85-850E-A24D-6077-2397E6253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3505203-6A80-6D52-4BC6-86E225D48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如何發現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及結果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加上調整前的表現，說明如何取捨 選擇哪個模型</a:t>
            </a:r>
            <a:r>
              <a:rPr lang="en-US" altLang="zh-TW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973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C9F0EDA-EC14-2C86-67E9-D8976EE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962112D6-DACD-4E65-9AF1-E508BB3D9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A67A10C1-1D1B-049C-B397-F413C857F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194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87717E9-6144-6FF7-54EB-C546CB89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42B206F-6D39-6CE7-7477-B021CC76F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B2575FBC-E5AC-762C-C2D1-4D7A3378E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有</a:t>
            </a:r>
            <a:r>
              <a:rPr lang="en-US" altLang="zh-TW" dirty="0"/>
              <a:t>100</a:t>
            </a:r>
            <a:r>
              <a:rPr lang="zh-TW" altLang="en-US" dirty="0"/>
              <a:t>棵樹，每棵樹的樹深不設定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若一個節點有</a:t>
            </a:r>
            <a:r>
              <a:rPr lang="en-US" altLang="zh-TW" b="1" dirty="0"/>
              <a:t>2 </a:t>
            </a:r>
            <a:r>
              <a:rPr lang="zh-TW" altLang="en-US" b="1" dirty="0"/>
              <a:t>筆以上樣本</a:t>
            </a:r>
            <a:r>
              <a:rPr lang="zh-TW" altLang="en-US" dirty="0"/>
              <a:t>就可以分裂，每個葉節點</a:t>
            </a:r>
            <a:r>
              <a:rPr lang="zh-TW" altLang="en-US" b="1" dirty="0"/>
              <a:t>最少保留 </a:t>
            </a:r>
            <a:r>
              <a:rPr lang="en-US" altLang="zh-TW" b="1" dirty="0"/>
              <a:t>1 </a:t>
            </a:r>
            <a:r>
              <a:rPr lang="zh-TW" altLang="en-US" b="1" dirty="0"/>
              <a:t>筆樣本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b="1" dirty="0"/>
              <a:t>經過層層考驗</a:t>
            </a:r>
            <a:r>
              <a:rPr lang="en-US" altLang="zh-TW" b="1" dirty="0"/>
              <a:t>, </a:t>
            </a:r>
            <a:r>
              <a:rPr lang="zh-TW" altLang="en-US" b="1" dirty="0"/>
              <a:t>說明最終選定模型表現 </a:t>
            </a:r>
            <a:r>
              <a:rPr lang="en-US" altLang="zh-TW" b="1" dirty="0"/>
              <a:t>NONE + RF?</a:t>
            </a:r>
            <a:br>
              <a:rPr lang="en-US" altLang="zh-TW" b="1" dirty="0"/>
            </a:br>
            <a:r>
              <a:rPr lang="zh-TW" altLang="en-US" b="1" dirty="0"/>
              <a:t>我還是不大確定這部分要呈現啥 哈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040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以最佳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為準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各變數的貢獻度排序 </a:t>
            </a:r>
            <a:b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4 Features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貢獻度皆有提高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A770864B-3FD3-517C-DEF0-FE216344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90cccfa97d_0_0:notes">
            <a:extLst>
              <a:ext uri="{FF2B5EF4-FFF2-40B4-BE49-F238E27FC236}">
                <a16:creationId xmlns:a16="http://schemas.microsoft.com/office/drawing/2014/main" id="{DE011723-4ABA-A7EB-C116-D4B74A1A8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90cccfa97d_0_0:notes">
            <a:extLst>
              <a:ext uri="{FF2B5EF4-FFF2-40B4-BE49-F238E27FC236}">
                <a16:creationId xmlns:a16="http://schemas.microsoft.com/office/drawing/2014/main" id="{3A28349F-CFC4-B463-5F4D-F758977A3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回答是否有達成目標</a:t>
            </a:r>
            <a:r>
              <a:rPr lang="en-US" altLang="zh-TW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244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700" y="3235425"/>
            <a:ext cx="4528800" cy="47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01325" y="2597250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30045" y="-104985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764202" y="-62075"/>
            <a:ext cx="2394148" cy="8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67464" y="3631889"/>
            <a:ext cx="1444150" cy="15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339776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27102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27102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339777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173175" y="4603999"/>
            <a:ext cx="2663675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683951" y="-526449"/>
            <a:ext cx="434275" cy="180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707598" y="248850"/>
            <a:ext cx="2082701" cy="1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36CEDA6-F688-3BEC-80CF-1B8B12BB4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352" y="2513599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91269" y="330700"/>
            <a:ext cx="3197970" cy="24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75180" y="22165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75180" y="19406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75180" y="16647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5180" y="13888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621355" y="24143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621355" y="21384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621355" y="18625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7A06F7-23C1-EC78-774A-DB333E8AF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526" y="4436648"/>
            <a:ext cx="2202975" cy="80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41021" y="-103179"/>
            <a:ext cx="2202979" cy="16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F9D11A-0CD5-C1B2-62F3-E306A8A47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 hasCustomPrompt="1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3" hasCustomPrompt="1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4" hasCustomPrompt="1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424002" y="-1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17267" y="711112"/>
            <a:ext cx="2367752" cy="9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807DEC-0AA4-E340-04A3-BD1C414C32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296218" y="3386900"/>
            <a:ext cx="118200" cy="945900"/>
            <a:chOff x="296218" y="3386900"/>
            <a:chExt cx="118200" cy="945900"/>
          </a:xfrm>
        </p:grpSpPr>
        <p:sp>
          <p:nvSpPr>
            <p:cNvPr id="100" name="Google Shape;100;p15"/>
            <p:cNvSpPr/>
            <p:nvPr/>
          </p:nvSpPr>
          <p:spPr>
            <a:xfrm>
              <a:off x="296218" y="42146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96218" y="39387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218" y="36628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96218" y="3386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41865" y="682140"/>
            <a:ext cx="2259825" cy="8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90B961-AD5F-940B-815B-284C9F43B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3900" y="1872394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2"/>
          </p:nvPr>
        </p:nvSpPr>
        <p:spPr>
          <a:xfrm>
            <a:off x="3442650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3"/>
          </p:nvPr>
        </p:nvSpPr>
        <p:spPr>
          <a:xfrm>
            <a:off x="72390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4"/>
          </p:nvPr>
        </p:nvSpPr>
        <p:spPr>
          <a:xfrm>
            <a:off x="344265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5"/>
          </p:nvPr>
        </p:nvSpPr>
        <p:spPr>
          <a:xfrm>
            <a:off x="6172072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6"/>
          </p:nvPr>
        </p:nvSpPr>
        <p:spPr>
          <a:xfrm>
            <a:off x="6172072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7"/>
          </p:nvPr>
        </p:nvSpPr>
        <p:spPr>
          <a:xfrm>
            <a:off x="732770" y="1222518"/>
            <a:ext cx="22494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8"/>
          </p:nvPr>
        </p:nvSpPr>
        <p:spPr>
          <a:xfrm>
            <a:off x="3447085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9"/>
          </p:nvPr>
        </p:nvSpPr>
        <p:spPr>
          <a:xfrm>
            <a:off x="6176507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3"/>
          </p:nvPr>
        </p:nvSpPr>
        <p:spPr>
          <a:xfrm>
            <a:off x="723900" y="3008043"/>
            <a:ext cx="2258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14"/>
          </p:nvPr>
        </p:nvSpPr>
        <p:spPr>
          <a:xfrm>
            <a:off x="3447090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5"/>
          </p:nvPr>
        </p:nvSpPr>
        <p:spPr>
          <a:xfrm>
            <a:off x="6176509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33038" y="-845700"/>
            <a:ext cx="750525" cy="237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t="71078" r="29403" b="51"/>
          <a:stretch/>
        </p:blipFill>
        <p:spPr>
          <a:xfrm>
            <a:off x="-412577" y="0"/>
            <a:ext cx="2027650" cy="724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2508F0-87CB-593F-DA09-7BF54DC189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55985" y="3225526"/>
            <a:ext cx="2953575" cy="2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999773" y="957875"/>
            <a:ext cx="2268199" cy="89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0"/>
          <p:cNvGrpSpPr/>
          <p:nvPr/>
        </p:nvGrpSpPr>
        <p:grpSpPr>
          <a:xfrm>
            <a:off x="8536502" y="1"/>
            <a:ext cx="615727" cy="2138099"/>
            <a:chOff x="8536502" y="1"/>
            <a:chExt cx="615727" cy="2138099"/>
          </a:xfrm>
        </p:grpSpPr>
        <p:pic>
          <p:nvPicPr>
            <p:cNvPr id="151" name="Google Shape;151;p20"/>
            <p:cNvPicPr preferRelativeResize="0"/>
            <p:nvPr/>
          </p:nvPicPr>
          <p:blipFill rotWithShape="1">
            <a:blip r:embed="rId4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0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7DF489-1E62-5951-55E8-49DE26878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967349" y="3462927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75088" y="-35225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68" y="4096625"/>
            <a:ext cx="1741078" cy="1903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2"/>
          <p:cNvGrpSpPr/>
          <p:nvPr/>
        </p:nvGrpSpPr>
        <p:grpSpPr>
          <a:xfrm>
            <a:off x="8501689" y="1690276"/>
            <a:ext cx="615727" cy="2138099"/>
            <a:chOff x="8536502" y="1"/>
            <a:chExt cx="615727" cy="2138099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5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l="-1218" t="11240" r="8916" b="-2108"/>
          <a:stretch/>
        </p:blipFill>
        <p:spPr>
          <a:xfrm rot="-5400000" flipH="1">
            <a:off x="-768288" y="1117892"/>
            <a:ext cx="4847852" cy="3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72975" y="-1002222"/>
            <a:ext cx="1717001" cy="3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552C68-477A-D10A-ADD9-89C5CB8C8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67545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21</a:t>
            </a:r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信用卡客戶流失分析</a:t>
            </a:r>
            <a:endParaRPr sz="3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2307700" y="3235424"/>
            <a:ext cx="4528800" cy="124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May 16, 2025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711378908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吳秉哲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711378912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蔡宜諠</a:t>
            </a:r>
            <a:endParaRPr 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title" idx="4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title" idx="6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title" idx="7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3" name="Google Shape;213;p30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模型實驗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38" y="2180371"/>
            <a:ext cx="734700" cy="30489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614171E-203A-3EB5-0E9B-AC8C3BCFF0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720000" y="171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720000" y="867336"/>
            <a:ext cx="7704000" cy="3809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本研究旨在探討金融產業中信用卡客戶流失之關鍵因素，並建構具可解釋性之預測模型，以利金融機構實施針對性客戶維繫策略。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主要目標包括：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應用機器學習方法預測客戶是否會流失（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識別對流失具有統計顯著關聯之變數特徵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建立具泛化能力的分類模型，支援實務決策與風險管理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本研究預期有助於提升客戶留存率、強化行銷效益與減緩流失對營運之衝擊。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131211-B7F6-93AE-1659-903C38674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A849369-D544-5FF3-8DF8-3DAAFE122364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</a:p>
        </p:txBody>
      </p:sp>
      <p:sp>
        <p:nvSpPr>
          <p:cNvPr id="5" name="Google Shape;240;p33">
            <a:extLst>
              <a:ext uri="{FF2B5EF4-FFF2-40B4-BE49-F238E27FC236}">
                <a16:creationId xmlns:a16="http://schemas.microsoft.com/office/drawing/2014/main" id="{B04B3412-EB72-F132-88A1-BFF0B8BE3F8B}"/>
              </a:ext>
            </a:extLst>
          </p:cNvPr>
          <p:cNvSpPr txBox="1">
            <a:spLocks/>
          </p:cNvSpPr>
          <p:nvPr/>
        </p:nvSpPr>
        <p:spPr>
          <a:xfrm>
            <a:off x="720000" y="775900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資料來自公開資料集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，由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Kaggle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平台提供，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內含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10,127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筆個體客戶之信用卡使用與基本屬性紀錄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個欄位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B1CB329-3DF6-15BE-7CB8-7A8CA66AE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828640"/>
              </p:ext>
            </p:extLst>
          </p:nvPr>
        </p:nvGraphicFramePr>
        <p:xfrm>
          <a:off x="720002" y="1627770"/>
          <a:ext cx="3859233" cy="34226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89949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969284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CLIENTNUM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客戶編號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Attrition_Flag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是否流失的標記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客戶年齡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家庭扶養人口數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教育程度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4733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婚姻狀態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9658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年收入分類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59628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信用卡等級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559127"/>
                  </a:ext>
                </a:extLst>
              </a:tr>
              <a:tr h="434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客戶維持帳戶的月份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39755"/>
                  </a:ext>
                </a:extLst>
              </a:tr>
              <a:tr h="6510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客戶與銀行的關係總數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（如有幾張卡、貸款等）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0351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0FF2140-3FE6-E717-8DF8-0AC477C38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2621"/>
              </p:ext>
            </p:extLst>
          </p:nvPr>
        </p:nvGraphicFramePr>
        <p:xfrm>
          <a:off x="4711699" y="1627771"/>
          <a:ext cx="3712300" cy="342264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9230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819999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64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個月中非活躍的月份數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2475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個月內的聯絡次數（客服互動等）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474284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74720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周轉餘額（未償還的部分）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130718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平均可用餘額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（信用額度 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迴轉餘額）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361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Total_Amt_Chng_Q4_Q1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消費金額變化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58198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22736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379223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交易次數變化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370302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平均信用額度使用率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167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B23A1E2-8638-B7B5-ABB8-55098762D4DF}"/>
              </a:ext>
            </a:extLst>
          </p:cNvPr>
          <p:cNvSpPr/>
          <p:nvPr/>
        </p:nvSpPr>
        <p:spPr>
          <a:xfrm>
            <a:off x="632556" y="2155371"/>
            <a:ext cx="3991698" cy="235132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98CEB-EAA4-9782-96CA-151769219F07}"/>
              </a:ext>
            </a:extLst>
          </p:cNvPr>
          <p:cNvSpPr/>
          <p:nvPr/>
        </p:nvSpPr>
        <p:spPr>
          <a:xfrm>
            <a:off x="632555" y="2425337"/>
            <a:ext cx="3991699" cy="2540182"/>
          </a:xfrm>
          <a:prstGeom prst="rect">
            <a:avLst/>
          </a:prstGeom>
          <a:solidFill>
            <a:srgbClr val="92D050">
              <a:alpha val="1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B4CDCD-ADED-C20A-C4C9-AE8D42B9F9C8}"/>
              </a:ext>
            </a:extLst>
          </p:cNvPr>
          <p:cNvSpPr/>
          <p:nvPr/>
        </p:nvSpPr>
        <p:spPr>
          <a:xfrm>
            <a:off x="4669971" y="1918061"/>
            <a:ext cx="3754028" cy="3132357"/>
          </a:xfrm>
          <a:prstGeom prst="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94FF892-14A4-7499-096B-3C56F95E6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4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4551AE42-849C-E687-FA1B-B4B1B031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DBB55022-840D-9C99-D244-3AAE7ECD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13442"/>
              </p:ext>
            </p:extLst>
          </p:nvPr>
        </p:nvGraphicFramePr>
        <p:xfrm>
          <a:off x="1468581" y="1410784"/>
          <a:ext cx="6206837" cy="3589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CA26EE9-6F85-6926-3B2C-CD7017F5D8F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893530D9-5440-DBC8-1DC7-227B5D8F8022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之類別分布。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96C962-6B1B-CB35-C1BE-5EA791937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594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8DB3654-325E-8987-65B6-9C43556E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13267B66-BF79-750B-28C0-8A54712C9CA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6145EB-6615-4DEC-8202-FC7A0B92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99912"/>
              </p:ext>
            </p:extLst>
          </p:nvPr>
        </p:nvGraphicFramePr>
        <p:xfrm>
          <a:off x="615502" y="1468913"/>
          <a:ext cx="3261775" cy="168805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3911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980478">
                  <a:extLst>
                    <a:ext uri="{9D8B030D-6E8A-4147-A177-3AD203B41FA5}">
                      <a16:colId xmlns:a16="http://schemas.microsoft.com/office/drawing/2014/main" val="1131034546"/>
                    </a:ext>
                  </a:extLst>
                </a:gridCol>
                <a:gridCol w="74218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Chi-Test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年收入分組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0.051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0.109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9ACC6E3-5241-4276-9729-BA1C88A3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00641"/>
              </p:ext>
            </p:extLst>
          </p:nvPr>
        </p:nvGraphicFramePr>
        <p:xfrm>
          <a:off x="3965911" y="1468913"/>
          <a:ext cx="4510340" cy="342411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197923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520061">
                  <a:extLst>
                    <a:ext uri="{9D8B030D-6E8A-4147-A177-3AD203B41FA5}">
                      <a16:colId xmlns:a16="http://schemas.microsoft.com/office/drawing/2014/main" val="3755701467"/>
                    </a:ext>
                  </a:extLst>
                </a:gridCol>
                <a:gridCol w="79235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連續變數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季間交易數變化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未償還周轉餘額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月聯絡次數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信用卡额度利用率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9080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月非活躍月數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942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與銀行關係總數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98914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0.016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50133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0.053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90008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0.058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309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0.160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5811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0.977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58257"/>
                  </a:ext>
                </a:extLst>
              </a:tr>
            </a:tbl>
          </a:graphicData>
        </a:graphic>
      </p:graphicFrame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F806F15D-3E18-D642-8211-5B356D52639D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檢視各變數與目標變數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間有無關係。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DBA5E-0886-6C26-FF69-3C1123D25B7D}"/>
              </a:ext>
            </a:extLst>
          </p:cNvPr>
          <p:cNvSpPr/>
          <p:nvPr/>
        </p:nvSpPr>
        <p:spPr>
          <a:xfrm>
            <a:off x="2135777" y="2005148"/>
            <a:ext cx="1741500" cy="50945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2687C-4B34-28AF-61F1-5B0DB9634980}"/>
              </a:ext>
            </a:extLst>
          </p:cNvPr>
          <p:cNvSpPr/>
          <p:nvPr/>
        </p:nvSpPr>
        <p:spPr>
          <a:xfrm>
            <a:off x="6137473" y="2005147"/>
            <a:ext cx="2338778" cy="202474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93615-40DB-81E3-6DC7-6AA3B96D2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55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33D91DC-ADE2-23DC-44B2-D958E478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0FC513B-87B7-4692-82F3-8E3031ACC50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DFF32946-1034-C9C0-FDD8-1CEAEABB3E2B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68A715-AEB3-C52C-64A5-393DF670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50" y="1332409"/>
            <a:ext cx="3761558" cy="363962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018AFAE-D707-9230-011E-5117F0AE5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608" y="1332409"/>
            <a:ext cx="4054191" cy="363962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056B05A-41FA-6B9B-43FC-6DDE8CD67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875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78AC393-06DB-0F94-4358-594E154A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4FA239E-16FD-26E8-EA76-C34C9E95BDE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455AAD-B2AE-11F7-A28F-02321136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332411"/>
            <a:ext cx="2530059" cy="37737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08B91E-A9BC-D742-50F7-E5D46BA9B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059" y="1332410"/>
            <a:ext cx="2706859" cy="37737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F66C57-5DE1-537B-339D-32CB7AE4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918" y="1332409"/>
            <a:ext cx="2467082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D6DE25DA-D2A2-5FE6-1A4F-8062EB5733B6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F1BAA4-2B91-3DCA-0CC1-DA1D7C231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129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562D64B-B09A-FB33-59A9-EA264365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58389BF9-C5A1-CFBD-AED8-F05E964816B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11D96BE-5EE7-E296-3C0F-17358601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7" y="1332411"/>
            <a:ext cx="2523963" cy="377375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79E152B-B0F0-9B93-B3E6-05AFA1E2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279" y="1332411"/>
            <a:ext cx="2530059" cy="37737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07B6D7-3A61-4DBB-22CA-CF87BCE77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000" y="1332411"/>
            <a:ext cx="2670279" cy="3773751"/>
          </a:xfrm>
          <a:prstGeom prst="rect">
            <a:avLst/>
          </a:prstGeom>
        </p:spPr>
      </p:pic>
      <p:sp>
        <p:nvSpPr>
          <p:cNvPr id="6" name="Google Shape;240;p33">
            <a:extLst>
              <a:ext uri="{FF2B5EF4-FFF2-40B4-BE49-F238E27FC236}">
                <a16:creationId xmlns:a16="http://schemas.microsoft.com/office/drawing/2014/main" id="{438C2330-123D-AEE9-81BB-96C2E783F4EA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16B5F4C1-B306-6A8A-3BF0-DCD98763D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482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F88E96D-2476-F2E0-68E7-8B52D1D8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EB36CB72-6FB9-DB53-1727-C09F0CDAAC4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81D00F-E62F-4BAF-ED76-55EFF5D4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860" y="1332411"/>
            <a:ext cx="2670279" cy="37652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5BEEE3-97AD-8C35-3A46-CD81D01CC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719" y="1332410"/>
            <a:ext cx="2520000" cy="37652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E454461-1808-0731-AFB7-71D43B64F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20" y="1332411"/>
            <a:ext cx="2523963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06E2FFF6-3683-3AE9-8928-7D10CE10751F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9DF0A9-41DC-789F-C34B-4CF176168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22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;p33">
            <a:extLst>
              <a:ext uri="{FF2B5EF4-FFF2-40B4-BE49-F238E27FC236}">
                <a16:creationId xmlns:a16="http://schemas.microsoft.com/office/drawing/2014/main" id="{EB2F0882-8EB8-7AA0-D8C1-9A7C08A58DD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資料清洗</a:t>
            </a: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01989" y="3354916"/>
            <a:ext cx="1015450" cy="24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40;p33">
            <a:extLst>
              <a:ext uri="{FF2B5EF4-FFF2-40B4-BE49-F238E27FC236}">
                <a16:creationId xmlns:a16="http://schemas.microsoft.com/office/drawing/2014/main" id="{3AF9D6BB-3E2D-A9B5-8D67-F757CEE34DCE}"/>
              </a:ext>
            </a:extLst>
          </p:cNvPr>
          <p:cNvSpPr txBox="1">
            <a:spLocks/>
          </p:cNvSpPr>
          <p:nvPr/>
        </p:nvSpPr>
        <p:spPr>
          <a:xfrm>
            <a:off x="720000" y="848472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缺失值檢查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資料集無缺失值，所以無須處理。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離群值檢查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筆數相對於總樣本數最多為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，所以先不處理。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One-Hot Encoding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MinMax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Scaler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18DA86-E339-5F2A-6CB6-ABF3EC83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15831"/>
              </p:ext>
            </p:extLst>
          </p:nvPr>
        </p:nvGraphicFramePr>
        <p:xfrm>
          <a:off x="5060179" y="2228850"/>
          <a:ext cx="3363821" cy="2743200"/>
        </p:xfrm>
        <a:graphic>
          <a:graphicData uri="http://schemas.openxmlformats.org/drawingml/2006/table">
            <a:tbl>
              <a:tblPr/>
              <a:tblGrid>
                <a:gridCol w="2225993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137828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欄位名稱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離群值筆數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Total_Trans_Amt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391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268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Total_Amt_Chng_Q4_Q1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163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Months_Inactive_12_mon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124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Total_Ct_Chng_Q4_Q1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Contacts_Count_12_mon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7967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Total_Trans_Ct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159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Customer_Age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291386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#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以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Z-Score &gt; 3 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)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為界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765719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32FAC8-E7DD-CB6B-E087-E01B43D96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A2AA23E8-F44C-299B-93C4-DE0937DC0AB1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實驗架構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C20AE0CA-38AF-079E-6194-545D8CCFA18A}"/>
              </a:ext>
            </a:extLst>
          </p:cNvPr>
          <p:cNvGrpSpPr/>
          <p:nvPr/>
        </p:nvGrpSpPr>
        <p:grpSpPr>
          <a:xfrm>
            <a:off x="121445" y="999287"/>
            <a:ext cx="8938415" cy="3564027"/>
            <a:chOff x="121445" y="863600"/>
            <a:chExt cx="8938415" cy="356402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27FA0B6-79B9-95FA-1BB7-EE5F95A66C0B}"/>
                </a:ext>
              </a:extLst>
            </p:cNvPr>
            <p:cNvSpPr/>
            <p:nvPr/>
          </p:nvSpPr>
          <p:spPr>
            <a:xfrm>
              <a:off x="121445" y="1270997"/>
              <a:ext cx="831850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Dataset 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D5FDDF7-040E-CE63-6C1E-F38314230ADB}"/>
                </a:ext>
              </a:extLst>
            </p:cNvPr>
            <p:cNvSpPr/>
            <p:nvPr/>
          </p:nvSpPr>
          <p:spPr>
            <a:xfrm>
              <a:off x="1646635" y="1112247"/>
              <a:ext cx="1216025" cy="10477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Train set /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Validate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26A72B4-5119-3275-D62F-253635F60F8E}"/>
                </a:ext>
              </a:extLst>
            </p:cNvPr>
            <p:cNvSpPr/>
            <p:nvPr/>
          </p:nvSpPr>
          <p:spPr>
            <a:xfrm>
              <a:off x="1646634" y="3235712"/>
              <a:ext cx="1216025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Test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" name="立方體 5">
              <a:extLst>
                <a:ext uri="{FF2B5EF4-FFF2-40B4-BE49-F238E27FC236}">
                  <a16:creationId xmlns:a16="http://schemas.microsoft.com/office/drawing/2014/main" id="{4DA66F10-5B04-D369-1991-082D64CEF379}"/>
                </a:ext>
              </a:extLst>
            </p:cNvPr>
            <p:cNvSpPr/>
            <p:nvPr/>
          </p:nvSpPr>
          <p:spPr>
            <a:xfrm>
              <a:off x="5882879" y="1270997"/>
              <a:ext cx="1216025" cy="730250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Model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流程圖: 決策 7">
              <a:extLst>
                <a:ext uri="{FF2B5EF4-FFF2-40B4-BE49-F238E27FC236}">
                  <a16:creationId xmlns:a16="http://schemas.microsoft.com/office/drawing/2014/main" id="{06593C19-9C96-1D60-67D0-C7AB2ACC5ECC}"/>
                </a:ext>
              </a:extLst>
            </p:cNvPr>
            <p:cNvSpPr/>
            <p:nvPr/>
          </p:nvSpPr>
          <p:spPr>
            <a:xfrm>
              <a:off x="3556000" y="1064622"/>
              <a:ext cx="1633539" cy="1143000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SMOTE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流程圖: 結束點 8">
              <a:extLst>
                <a:ext uri="{FF2B5EF4-FFF2-40B4-BE49-F238E27FC236}">
                  <a16:creationId xmlns:a16="http://schemas.microsoft.com/office/drawing/2014/main" id="{0984A680-02D0-C99A-0DAE-8F25F9762A1C}"/>
                </a:ext>
              </a:extLst>
            </p:cNvPr>
            <p:cNvSpPr/>
            <p:nvPr/>
          </p:nvSpPr>
          <p:spPr>
            <a:xfrm>
              <a:off x="8001793" y="1270997"/>
              <a:ext cx="1058067" cy="730250"/>
            </a:xfrm>
            <a:prstGeom prst="flowChartTerminato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流程圖: 結束點 9">
              <a:extLst>
                <a:ext uri="{FF2B5EF4-FFF2-40B4-BE49-F238E27FC236}">
                  <a16:creationId xmlns:a16="http://schemas.microsoft.com/office/drawing/2014/main" id="{5C74198F-9D74-FAE3-3563-3DCA792005F6}"/>
                </a:ext>
              </a:extLst>
            </p:cNvPr>
            <p:cNvSpPr/>
            <p:nvPr/>
          </p:nvSpPr>
          <p:spPr>
            <a:xfrm>
              <a:off x="8001793" y="3235712"/>
              <a:ext cx="1058067" cy="730250"/>
            </a:xfrm>
            <a:prstGeom prst="flowChartTermina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A63CB0D-E3A2-517B-09EB-162FDAC47FCA}"/>
                </a:ext>
              </a:extLst>
            </p:cNvPr>
            <p:cNvSpPr/>
            <p:nvPr/>
          </p:nvSpPr>
          <p:spPr>
            <a:xfrm>
              <a:off x="1568450" y="927099"/>
              <a:ext cx="5851722" cy="2174082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92D050"/>
                  </a:solidFill>
                </a:rPr>
                <a:t>5 Folds</a:t>
              </a:r>
              <a:br>
                <a:rPr lang="en-US" altLang="zh-TW" sz="2000" b="1" dirty="0">
                  <a:solidFill>
                    <a:srgbClr val="92D050"/>
                  </a:solidFill>
                </a:rPr>
              </a:br>
              <a:r>
                <a:rPr lang="en-US" altLang="zh-TW" sz="2000" b="1" dirty="0">
                  <a:solidFill>
                    <a:srgbClr val="92D050"/>
                  </a:solidFill>
                </a:rPr>
                <a:t>30 Times</a:t>
              </a:r>
              <a:endParaRPr lang="zh-TW" altLang="en-US" sz="2000" b="1" dirty="0">
                <a:solidFill>
                  <a:srgbClr val="92D050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F35568D-1F01-D8C1-3A5C-04298D99AD2C}"/>
                </a:ext>
              </a:extLst>
            </p:cNvPr>
            <p:cNvSpPr/>
            <p:nvPr/>
          </p:nvSpPr>
          <p:spPr>
            <a:xfrm>
              <a:off x="1504949" y="863600"/>
              <a:ext cx="5992415" cy="3549650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0070C0"/>
                  </a:solidFill>
                </a:rPr>
                <a:t>100 Times</a:t>
              </a:r>
              <a:endParaRPr lang="zh-TW" alt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13" name="箭號: 向右 12">
              <a:extLst>
                <a:ext uri="{FF2B5EF4-FFF2-40B4-BE49-F238E27FC236}">
                  <a16:creationId xmlns:a16="http://schemas.microsoft.com/office/drawing/2014/main" id="{A8616D12-E98D-8A08-1144-4DC7FFF897C8}"/>
                </a:ext>
              </a:extLst>
            </p:cNvPr>
            <p:cNvSpPr/>
            <p:nvPr/>
          </p:nvSpPr>
          <p:spPr>
            <a:xfrm>
              <a:off x="1083668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23281011-DE2F-59EE-32D8-20735003FDDA}"/>
                </a:ext>
              </a:extLst>
            </p:cNvPr>
            <p:cNvSpPr/>
            <p:nvPr/>
          </p:nvSpPr>
          <p:spPr>
            <a:xfrm>
              <a:off x="3056533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17061261-C396-8F1B-0D45-B80E7413D636}"/>
                </a:ext>
              </a:extLst>
            </p:cNvPr>
            <p:cNvSpPr/>
            <p:nvPr/>
          </p:nvSpPr>
          <p:spPr>
            <a:xfrm>
              <a:off x="5383412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AECF51F4-4C1C-71FB-3E12-DA123151E42D}"/>
                </a:ext>
              </a:extLst>
            </p:cNvPr>
            <p:cNvSpPr/>
            <p:nvPr/>
          </p:nvSpPr>
          <p:spPr>
            <a:xfrm>
              <a:off x="7624365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" name="箭號: 向右 16">
              <a:extLst>
                <a:ext uri="{FF2B5EF4-FFF2-40B4-BE49-F238E27FC236}">
                  <a16:creationId xmlns:a16="http://schemas.microsoft.com/office/drawing/2014/main" id="{2BB0A5BA-7319-8DC2-0F67-0457E057E477}"/>
                </a:ext>
              </a:extLst>
            </p:cNvPr>
            <p:cNvSpPr/>
            <p:nvPr/>
          </p:nvSpPr>
          <p:spPr>
            <a:xfrm>
              <a:off x="7611665" y="3400018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3A3E224-6A27-2CE4-664A-2E43981FB643}"/>
                </a:ext>
              </a:extLst>
            </p:cNvPr>
            <p:cNvSpPr txBox="1"/>
            <p:nvPr/>
          </p:nvSpPr>
          <p:spPr>
            <a:xfrm>
              <a:off x="5717382" y="2041068"/>
              <a:ext cx="17418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Logistic Regression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KNN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Bayes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Decision Tree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Random Forest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B0E8020-F1F5-8EF0-E357-A3DD612BB763}"/>
                </a:ext>
              </a:extLst>
            </p:cNvPr>
            <p:cNvSpPr txBox="1"/>
            <p:nvPr/>
          </p:nvSpPr>
          <p:spPr>
            <a:xfrm>
              <a:off x="7948015" y="2014140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2B44FA9-17FB-465D-CA54-0CE3612E74A1}"/>
                </a:ext>
              </a:extLst>
            </p:cNvPr>
            <p:cNvSpPr txBox="1"/>
            <p:nvPr/>
          </p:nvSpPr>
          <p:spPr>
            <a:xfrm>
              <a:off x="7948015" y="3965962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5D0C6C7-8A47-F127-D789-EA89473B57F0}"/>
                </a:ext>
              </a:extLst>
            </p:cNvPr>
            <p:cNvSpPr txBox="1"/>
            <p:nvPr/>
          </p:nvSpPr>
          <p:spPr>
            <a:xfrm>
              <a:off x="121446" y="2068983"/>
              <a:ext cx="130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altLang="zh-TW" sz="1200" dirty="0">
                  <a:solidFill>
                    <a:schemeClr val="accent2"/>
                  </a:solidFill>
                </a:rPr>
                <a:t># Shuffle = True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98A05E-E383-69FA-070B-8FDB2D43D6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C0644C2-5C63-92CE-4E75-64D9B1CD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41584DD-D2F3-E880-63D2-AE9D243C3D9F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處理資料不平衡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SMOTE</a:t>
            </a:r>
          </a:p>
        </p:txBody>
      </p:sp>
      <p:pic>
        <p:nvPicPr>
          <p:cNvPr id="4" name="圖片 3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B78A32B2-89BD-A797-0CF1-598637B7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09" y="920410"/>
            <a:ext cx="4059639" cy="40516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DF1BE17-0A51-5DD4-C3FC-6990B39A4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3" y="2501800"/>
            <a:ext cx="3730290" cy="78245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73C2D48-EB17-5B9D-97BC-A22D106891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278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1551D943-61A8-B187-9FB9-F1A0FC7D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D7BD34DE-C9AE-C3C4-29AC-5BAA2D9E89D3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實驗結果總覽</a:t>
            </a:r>
          </a:p>
        </p:txBody>
      </p:sp>
      <p:sp>
        <p:nvSpPr>
          <p:cNvPr id="29" name="Google Shape;240;p33">
            <a:extLst>
              <a:ext uri="{FF2B5EF4-FFF2-40B4-BE49-F238E27FC236}">
                <a16:creationId xmlns:a16="http://schemas.microsoft.com/office/drawing/2014/main" id="{BEE2989F-1C57-99A5-ACDD-D9B4C9BCA54A}"/>
              </a:ext>
            </a:extLst>
          </p:cNvPr>
          <p:cNvSpPr txBox="1">
            <a:spLocks/>
          </p:cNvSpPr>
          <p:nvPr/>
        </p:nvSpPr>
        <p:spPr>
          <a:xfrm>
            <a:off x="108815" y="814266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以測試資料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(Test set)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做排序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D6E540-4ACC-914E-BAFB-1F1FC20E6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00233"/>
              </p:ext>
            </p:extLst>
          </p:nvPr>
        </p:nvGraphicFramePr>
        <p:xfrm>
          <a:off x="277464" y="1657882"/>
          <a:ext cx="8615497" cy="2985191"/>
        </p:xfrm>
        <a:graphic>
          <a:graphicData uri="http://schemas.openxmlformats.org/drawingml/2006/table">
            <a:tbl>
              <a:tblPr>
                <a:tableStyleId>{2200242A-195A-4123-8FDE-3D8DABD98305}</a:tableStyleId>
              </a:tblPr>
              <a:tblGrid>
                <a:gridCol w="900196">
                  <a:extLst>
                    <a:ext uri="{9D8B030D-6E8A-4147-A177-3AD203B41FA5}">
                      <a16:colId xmlns:a16="http://schemas.microsoft.com/office/drawing/2014/main" val="3398353605"/>
                    </a:ext>
                  </a:extLst>
                </a:gridCol>
                <a:gridCol w="1798638">
                  <a:extLst>
                    <a:ext uri="{9D8B030D-6E8A-4147-A177-3AD203B41FA5}">
                      <a16:colId xmlns:a16="http://schemas.microsoft.com/office/drawing/2014/main" val="412958123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495785483"/>
                    </a:ext>
                  </a:extLst>
                </a:gridCol>
                <a:gridCol w="922491">
                  <a:extLst>
                    <a:ext uri="{9D8B030D-6E8A-4147-A177-3AD203B41FA5}">
                      <a16:colId xmlns:a16="http://schemas.microsoft.com/office/drawing/2014/main" val="1170969922"/>
                    </a:ext>
                  </a:extLst>
                </a:gridCol>
                <a:gridCol w="781030">
                  <a:extLst>
                    <a:ext uri="{9D8B030D-6E8A-4147-A177-3AD203B41FA5}">
                      <a16:colId xmlns:a16="http://schemas.microsoft.com/office/drawing/2014/main" val="520974037"/>
                    </a:ext>
                  </a:extLst>
                </a:gridCol>
                <a:gridCol w="634485">
                  <a:extLst>
                    <a:ext uri="{9D8B030D-6E8A-4147-A177-3AD203B41FA5}">
                      <a16:colId xmlns:a16="http://schemas.microsoft.com/office/drawing/2014/main" val="1981301457"/>
                    </a:ext>
                  </a:extLst>
                </a:gridCol>
                <a:gridCol w="764621">
                  <a:extLst>
                    <a:ext uri="{9D8B030D-6E8A-4147-A177-3AD203B41FA5}">
                      <a16:colId xmlns:a16="http://schemas.microsoft.com/office/drawing/2014/main" val="3336963473"/>
                    </a:ext>
                  </a:extLst>
                </a:gridCol>
                <a:gridCol w="623922">
                  <a:extLst>
                    <a:ext uri="{9D8B030D-6E8A-4147-A177-3AD203B41FA5}">
                      <a16:colId xmlns:a16="http://schemas.microsoft.com/office/drawing/2014/main" val="2634073858"/>
                    </a:ext>
                  </a:extLst>
                </a:gridCol>
                <a:gridCol w="1072514">
                  <a:extLst>
                    <a:ext uri="{9D8B030D-6E8A-4147-A177-3AD203B41FA5}">
                      <a16:colId xmlns:a16="http://schemas.microsoft.com/office/drawing/2014/main" val="4102526325"/>
                    </a:ext>
                  </a:extLst>
                </a:gridCol>
              </a:tblGrid>
              <a:tr h="271381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imbalance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model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cv_acc_mean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cv_f1_mean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elapsed_time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41187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31.982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1552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60.42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381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2.227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2839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5.305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8397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1116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1.005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36506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4.764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373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2.996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18309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1.345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27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0.427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7.498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014390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14BC900-9ECA-D5C1-0B2E-0F54D18184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14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4928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0EF68F3-85F8-37B5-58CC-AA996FFE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EFD9C8FF-9699-E654-AD0C-45A59C6C160D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曲線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Top5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模型比較</a:t>
            </a:r>
          </a:p>
        </p:txBody>
      </p:sp>
      <p:pic>
        <p:nvPicPr>
          <p:cNvPr id="7" name="圖片 6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A501D274-84C6-5BF4-8B7C-F8C13708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97" y="963028"/>
            <a:ext cx="4862006" cy="400902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AAA8636-F90C-D5AF-BB33-7895D4041D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081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0DEE2411-9EF0-C353-3F62-0795418A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DFFD81A-43D0-B221-F701-7DE8FC570E07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模型設定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5A9BAF9-3AEB-60CD-6548-C095E38EA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957013"/>
              </p:ext>
            </p:extLst>
          </p:nvPr>
        </p:nvGraphicFramePr>
        <p:xfrm>
          <a:off x="927847" y="1206424"/>
          <a:ext cx="3082528" cy="1828800"/>
        </p:xfrm>
        <a:graphic>
          <a:graphicData uri="http://schemas.openxmlformats.org/drawingml/2006/table">
            <a:tbl>
              <a:tblPr/>
              <a:tblGrid>
                <a:gridCol w="2069901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012627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預設參數表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9366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n_estimators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100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864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max_depths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None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</a:tbl>
          </a:graphicData>
        </a:graphic>
      </p:graphicFrame>
      <p:pic>
        <p:nvPicPr>
          <p:cNvPr id="12" name="圖片 11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D5CD397-37F3-6FA8-CA13-AB386F50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28" y="1206424"/>
            <a:ext cx="4292494" cy="3202338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3245011-690F-875A-C435-828506AC1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24651"/>
              </p:ext>
            </p:extLst>
          </p:nvPr>
        </p:nvGraphicFramePr>
        <p:xfrm>
          <a:off x="927847" y="3380581"/>
          <a:ext cx="3082528" cy="1524000"/>
        </p:xfrm>
        <a:graphic>
          <a:graphicData uri="http://schemas.openxmlformats.org/drawingml/2006/table">
            <a:tbl>
              <a:tblPr/>
              <a:tblGrid>
                <a:gridCol w="1964234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118294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超參數設置與範圍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實驗範圍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max_depth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1-5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altLang="zh-TW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</a:tbl>
          </a:graphicData>
        </a:graphic>
      </p:graphicFrame>
      <p:sp>
        <p:nvSpPr>
          <p:cNvPr id="6" name="箭號: 弧形右彎 5">
            <a:extLst>
              <a:ext uri="{FF2B5EF4-FFF2-40B4-BE49-F238E27FC236}">
                <a16:creationId xmlns:a16="http://schemas.microsoft.com/office/drawing/2014/main" id="{A03B7DA5-C229-EF4A-5804-20D3F64BB0F9}"/>
              </a:ext>
            </a:extLst>
          </p:cNvPr>
          <p:cNvSpPr/>
          <p:nvPr/>
        </p:nvSpPr>
        <p:spPr>
          <a:xfrm>
            <a:off x="185409" y="2854465"/>
            <a:ext cx="598394" cy="1052232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D8F8F4-0BE3-4A28-41CF-29AB33BF45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64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9D250D55-6D81-C4C1-4319-0004024A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5CA16AD2-5EAB-27F0-5A8C-66B3F02B9E4C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參數調整結果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B80243-F3FE-6223-C841-D14892C36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87016"/>
              </p:ext>
            </p:extLst>
          </p:nvPr>
        </p:nvGraphicFramePr>
        <p:xfrm>
          <a:off x="116884" y="2464654"/>
          <a:ext cx="8910230" cy="2167858"/>
        </p:xfrm>
        <a:graphic>
          <a:graphicData uri="http://schemas.openxmlformats.org/drawingml/2006/table">
            <a:tbl>
              <a:tblPr>
                <a:tableStyleId>{DDAAF232-3A97-4442-9176-7BD929595E78}</a:tableStyleId>
              </a:tblPr>
              <a:tblGrid>
                <a:gridCol w="516513">
                  <a:extLst>
                    <a:ext uri="{9D8B030D-6E8A-4147-A177-3AD203B41FA5}">
                      <a16:colId xmlns:a16="http://schemas.microsoft.com/office/drawing/2014/main" val="425451648"/>
                    </a:ext>
                  </a:extLst>
                </a:gridCol>
                <a:gridCol w="1069997">
                  <a:extLst>
                    <a:ext uri="{9D8B030D-6E8A-4147-A177-3AD203B41FA5}">
                      <a16:colId xmlns:a16="http://schemas.microsoft.com/office/drawing/2014/main" val="3606930055"/>
                    </a:ext>
                  </a:extLst>
                </a:gridCol>
                <a:gridCol w="1037800">
                  <a:extLst>
                    <a:ext uri="{9D8B030D-6E8A-4147-A177-3AD203B41FA5}">
                      <a16:colId xmlns:a16="http://schemas.microsoft.com/office/drawing/2014/main" val="876824215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1078254506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489586711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2056688950"/>
                    </a:ext>
                  </a:extLst>
                </a:gridCol>
                <a:gridCol w="789676">
                  <a:extLst>
                    <a:ext uri="{9D8B030D-6E8A-4147-A177-3AD203B41FA5}">
                      <a16:colId xmlns:a16="http://schemas.microsoft.com/office/drawing/2014/main" val="3154010507"/>
                    </a:ext>
                  </a:extLst>
                </a:gridCol>
                <a:gridCol w="737293">
                  <a:extLst>
                    <a:ext uri="{9D8B030D-6E8A-4147-A177-3AD203B41FA5}">
                      <a16:colId xmlns:a16="http://schemas.microsoft.com/office/drawing/2014/main" val="316401687"/>
                    </a:ext>
                  </a:extLst>
                </a:gridCol>
                <a:gridCol w="769428">
                  <a:extLst>
                    <a:ext uri="{9D8B030D-6E8A-4147-A177-3AD203B41FA5}">
                      <a16:colId xmlns:a16="http://schemas.microsoft.com/office/drawing/2014/main" val="2131174849"/>
                    </a:ext>
                  </a:extLst>
                </a:gridCol>
                <a:gridCol w="830818">
                  <a:extLst>
                    <a:ext uri="{9D8B030D-6E8A-4147-A177-3AD203B41FA5}">
                      <a16:colId xmlns:a16="http://schemas.microsoft.com/office/drawing/2014/main" val="934803930"/>
                    </a:ext>
                  </a:extLst>
                </a:gridCol>
                <a:gridCol w="759305">
                  <a:extLst>
                    <a:ext uri="{9D8B030D-6E8A-4147-A177-3AD203B41FA5}">
                      <a16:colId xmlns:a16="http://schemas.microsoft.com/office/drawing/2014/main" val="2229618793"/>
                    </a:ext>
                  </a:extLst>
                </a:gridCol>
              </a:tblGrid>
              <a:tr h="319363">
                <a:tc gridSpan="1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隨機森林超參數調整結果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7898809"/>
                  </a:ext>
                </a:extLst>
              </a:tr>
              <a:tr h="597460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depth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samples_split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samples_leaf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</a:t>
                      </a: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difference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time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0574188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17.194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1187094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5551119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344738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17.715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6201895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16.698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254110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F1E6EB0-BA7F-C706-47D8-9D1785223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59785"/>
              </p:ext>
            </p:extLst>
          </p:nvPr>
        </p:nvGraphicFramePr>
        <p:xfrm>
          <a:off x="116884" y="1059488"/>
          <a:ext cx="8910229" cy="1153968"/>
        </p:xfrm>
        <a:graphic>
          <a:graphicData uri="http://schemas.openxmlformats.org/drawingml/2006/table">
            <a:tbl>
              <a:tblPr>
                <a:tableStyleId>{2200242A-195A-4123-8FDE-3D8DABD98305}</a:tableStyleId>
              </a:tblPr>
              <a:tblGrid>
                <a:gridCol w="929972">
                  <a:extLst>
                    <a:ext uri="{9D8B030D-6E8A-4147-A177-3AD203B41FA5}">
                      <a16:colId xmlns:a16="http://schemas.microsoft.com/office/drawing/2014/main" val="3398353605"/>
                    </a:ext>
                  </a:extLst>
                </a:gridCol>
                <a:gridCol w="1284468">
                  <a:extLst>
                    <a:ext uri="{9D8B030D-6E8A-4147-A177-3AD203B41FA5}">
                      <a16:colId xmlns:a16="http://schemas.microsoft.com/office/drawing/2014/main" val="4129581235"/>
                    </a:ext>
                  </a:extLst>
                </a:gridCol>
                <a:gridCol w="1154569">
                  <a:extLst>
                    <a:ext uri="{9D8B030D-6E8A-4147-A177-3AD203B41FA5}">
                      <a16:colId xmlns:a16="http://schemas.microsoft.com/office/drawing/2014/main" val="2495785483"/>
                    </a:ext>
                  </a:extLst>
                </a:gridCol>
                <a:gridCol w="953005">
                  <a:extLst>
                    <a:ext uri="{9D8B030D-6E8A-4147-A177-3AD203B41FA5}">
                      <a16:colId xmlns:a16="http://schemas.microsoft.com/office/drawing/2014/main" val="1170969922"/>
                    </a:ext>
                  </a:extLst>
                </a:gridCol>
                <a:gridCol w="806865">
                  <a:extLst>
                    <a:ext uri="{9D8B030D-6E8A-4147-A177-3AD203B41FA5}">
                      <a16:colId xmlns:a16="http://schemas.microsoft.com/office/drawing/2014/main" val="520974037"/>
                    </a:ext>
                  </a:extLst>
                </a:gridCol>
                <a:gridCol w="655471">
                  <a:extLst>
                    <a:ext uri="{9D8B030D-6E8A-4147-A177-3AD203B41FA5}">
                      <a16:colId xmlns:a16="http://schemas.microsoft.com/office/drawing/2014/main" val="1981301457"/>
                    </a:ext>
                  </a:extLst>
                </a:gridCol>
                <a:gridCol w="789914">
                  <a:extLst>
                    <a:ext uri="{9D8B030D-6E8A-4147-A177-3AD203B41FA5}">
                      <a16:colId xmlns:a16="http://schemas.microsoft.com/office/drawing/2014/main" val="3336963473"/>
                    </a:ext>
                  </a:extLst>
                </a:gridCol>
                <a:gridCol w="644560">
                  <a:extLst>
                    <a:ext uri="{9D8B030D-6E8A-4147-A177-3AD203B41FA5}">
                      <a16:colId xmlns:a16="http://schemas.microsoft.com/office/drawing/2014/main" val="2634073858"/>
                    </a:ext>
                  </a:extLst>
                </a:gridCol>
                <a:gridCol w="583414">
                  <a:extLst>
                    <a:ext uri="{9D8B030D-6E8A-4147-A177-3AD203B41FA5}">
                      <a16:colId xmlns:a16="http://schemas.microsoft.com/office/drawing/2014/main" val="1526183296"/>
                    </a:ext>
                  </a:extLst>
                </a:gridCol>
                <a:gridCol w="1107991">
                  <a:extLst>
                    <a:ext uri="{9D8B030D-6E8A-4147-A177-3AD203B41FA5}">
                      <a16:colId xmlns:a16="http://schemas.microsoft.com/office/drawing/2014/main" val="4102526325"/>
                    </a:ext>
                  </a:extLst>
                </a:gridCol>
              </a:tblGrid>
              <a:tr h="384656">
                <a:tc gridSpan="10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預設參數模型表現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86457"/>
                  </a:ext>
                </a:extLst>
              </a:tr>
              <a:tr h="384656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imbalance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model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cv_acc_mean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cv_f1_mean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train_f1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test_f1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F1_Diff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elapsed_time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41187"/>
                  </a:ext>
                </a:extLst>
              </a:tr>
              <a:tr h="384656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31.982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15522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AACB61-499D-0389-13DB-97A80A78F4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868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DCBF19A1-4ECD-551B-FA25-8566D3B6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92354C0-0F84-7208-DAD9-1D9DEC1EFF07}"/>
              </a:ext>
            </a:extLst>
          </p:cNvPr>
          <p:cNvSpPr txBox="1">
            <a:spLocks/>
          </p:cNvSpPr>
          <p:nvPr/>
        </p:nvSpPr>
        <p:spPr>
          <a:xfrm>
            <a:off x="274938" y="171450"/>
            <a:ext cx="85941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曲線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調參後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73B6D45B-FEED-32D9-3636-944E6270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10" y="982616"/>
            <a:ext cx="5079597" cy="416088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0A4AA26-BC21-085A-DD6C-37105A5DA7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109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643BD9F3-774F-74FF-CF52-0EF0AAFB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F1F394BC-A699-8CD4-5B17-D8BACAE506C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模型結果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45CA22-B1C0-64E4-93BA-F4EC4B33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22569"/>
              </p:ext>
            </p:extLst>
          </p:nvPr>
        </p:nvGraphicFramePr>
        <p:xfrm>
          <a:off x="1844167" y="1910093"/>
          <a:ext cx="5455665" cy="2994488"/>
        </p:xfrm>
        <a:graphic>
          <a:graphicData uri="http://schemas.openxmlformats.org/drawingml/2006/table">
            <a:tbl>
              <a:tblPr/>
              <a:tblGrid>
                <a:gridCol w="1332696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335471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  <a:gridCol w="1393749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  <a:gridCol w="1393749">
                  <a:extLst>
                    <a:ext uri="{9D8B030D-6E8A-4147-A177-3AD203B41FA5}">
                      <a16:colId xmlns:a16="http://schemas.microsoft.com/office/drawing/2014/main" val="4159693727"/>
                    </a:ext>
                  </a:extLst>
                </a:gridCol>
              </a:tblGrid>
              <a:tr h="89309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Confusion</a:t>
                      </a:r>
                      <a:r>
                        <a:rPr lang="zh-TW" altLang="en-US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matrix</a:t>
                      </a:r>
                      <a:b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</a:br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(Churn or not)</a:t>
                      </a:r>
                      <a:endParaRPr lang="zh-TW" altLang="en-US" sz="20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52534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Y</a:t>
                      </a:r>
                      <a:endParaRPr lang="zh-TW" altLang="en-US" sz="20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N</a:t>
                      </a:r>
                      <a:endParaRPr lang="zh-TW" altLang="en-US" sz="20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Sensitivity</a:t>
                      </a:r>
                      <a:endParaRPr lang="zh-TW" altLang="en-US" sz="20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52534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Real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251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74 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77%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52534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Real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22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1,679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99%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52534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92%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96%.</a:t>
                      </a:r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0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271386"/>
                  </a:ext>
                </a:extLst>
              </a:tr>
            </a:tbl>
          </a:graphicData>
        </a:graphic>
      </p:graphicFrame>
      <p:sp>
        <p:nvSpPr>
          <p:cNvPr id="4" name="Google Shape;240;p33">
            <a:extLst>
              <a:ext uri="{FF2B5EF4-FFF2-40B4-BE49-F238E27FC236}">
                <a16:creationId xmlns:a16="http://schemas.microsoft.com/office/drawing/2014/main" id="{36280584-294A-2190-F029-71816E79AE93}"/>
              </a:ext>
            </a:extLst>
          </p:cNvPr>
          <p:cNvSpPr txBox="1">
            <a:spLocks/>
          </p:cNvSpPr>
          <p:nvPr/>
        </p:nvSpPr>
        <p:spPr>
          <a:xfrm>
            <a:off x="399570" y="1015065"/>
            <a:ext cx="8275703" cy="675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模型預測流失的準確性高達 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92%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，但仍有約 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23%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的流失客戶未被成功識別。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4B3327-E30D-6F6C-381A-E0B9AF2ED9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74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8;p33">
            <a:extLst>
              <a:ext uri="{FF2B5EF4-FFF2-40B4-BE49-F238E27FC236}">
                <a16:creationId xmlns:a16="http://schemas.microsoft.com/office/drawing/2014/main" id="{87CF05A4-6754-ECCA-785E-3DFA64FFC62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調參後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DBA37381-7B91-3A15-6B6E-DD265FBD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2" y="881724"/>
            <a:ext cx="8024055" cy="39798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FA8595-C2D7-4AD6-08D0-9C30860C8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A571DEA6-FD1B-2F5B-F994-EFC3A454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1BE4FB28-7681-C50A-01B7-54005B222C1D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C417A209-B571-46C1-F238-6E8BF335F0DD}"/>
              </a:ext>
            </a:extLst>
          </p:cNvPr>
          <p:cNvSpPr txBox="1">
            <a:spLocks/>
          </p:cNvSpPr>
          <p:nvPr/>
        </p:nvSpPr>
        <p:spPr>
          <a:xfrm>
            <a:off x="720000" y="881226"/>
            <a:ext cx="7704000" cy="4090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>
              <a:lnSpc>
                <a:spcPct val="150000"/>
              </a:lnSpc>
              <a:buSzPct val="60000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此次研究結果可協助企業提前掌握高風險族群，進行差異化經營與風險預警介入。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識別對流失具有統計顯著關聯之變數特徵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選出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總交易次數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總交易金額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季間交易數變化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未償還周轉餘額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個關鍵預測因子。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建立具泛化能力的分類模型，支援實務決策與風險管理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 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原始資料型態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搭配 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Random Forest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，展現穩定且  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優異的分類能力（預測準確率可達 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16CD045-69DC-FDEE-CEA0-15728632A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2609213"/>
      </p:ext>
    </p:extLst>
  </p:cSld>
  <p:clrMapOvr>
    <a:masterClrMapping/>
  </p:clrMapOvr>
</p:sld>
</file>

<file path=ppt/theme/theme1.xml><?xml version="1.0" encoding="utf-8"?>
<a:theme xmlns:a="http://schemas.openxmlformats.org/drawingml/2006/main" name="IT Security Hacker Pitch Deck by Slidesgo">
  <a:themeElements>
    <a:clrScheme name="Simple Light">
      <a:dk1>
        <a:srgbClr val="B8FFFF"/>
      </a:dk1>
      <a:lt1>
        <a:srgbClr val="4C5052"/>
      </a:lt1>
      <a:dk2>
        <a:srgbClr val="202222"/>
      </a:dk2>
      <a:lt2>
        <a:srgbClr val="3D7272"/>
      </a:lt2>
      <a:accent1>
        <a:srgbClr val="769C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8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1593</Words>
  <Application>Microsoft Office PowerPoint</Application>
  <PresentationFormat>如螢幕大小 (16:9)</PresentationFormat>
  <Paragraphs>464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1" baseType="lpstr">
      <vt:lpstr>Anaheim</vt:lpstr>
      <vt:lpstr>微軟正黑體</vt:lpstr>
      <vt:lpstr>Orbitron</vt:lpstr>
      <vt:lpstr>Wingdings</vt:lpstr>
      <vt:lpstr>Arial</vt:lpstr>
      <vt:lpstr>Microsoft JhengHei Light</vt:lpstr>
      <vt:lpstr>Nunito Light</vt:lpstr>
      <vt:lpstr>Bebas Neue</vt:lpstr>
      <vt:lpstr>Mukta Mahee</vt:lpstr>
      <vt:lpstr>IT Security Hacker Pitch Deck by Slidesgo</vt:lpstr>
      <vt:lpstr>信用卡客戶流失分析</vt:lpstr>
      <vt:lpstr>目錄</vt:lpstr>
      <vt:lpstr>研究目的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信用卡客戶流失分析</dc:title>
  <dc:creator>Brad Wu(FB-TEK)</dc:creator>
  <cp:lastModifiedBy>Brad Wu 吳秉哲</cp:lastModifiedBy>
  <cp:revision>84</cp:revision>
  <dcterms:modified xsi:type="dcterms:W3CDTF">2025-05-15T09:17:35Z</dcterms:modified>
</cp:coreProperties>
</file>